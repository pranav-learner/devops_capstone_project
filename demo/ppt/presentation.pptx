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35240" y="731520"/>
            <a:ext cx="3886200" cy="5394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Oval 2"/>
          <p:cNvSpPr/>
          <p:nvPr/>
        </p:nvSpPr>
        <p:spPr>
          <a:xfrm>
            <a:off x="8275320" y="1325880"/>
            <a:ext cx="384048" cy="384048"/>
          </a:xfrm>
          <a:prstGeom prst="ellipse">
            <a:avLst/>
          </a:prstGeom>
          <a:solidFill>
            <a:srgbClr val="3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Oval 3"/>
          <p:cNvSpPr/>
          <p:nvPr/>
        </p:nvSpPr>
        <p:spPr>
          <a:xfrm>
            <a:off x="8796528" y="1325880"/>
            <a:ext cx="384048" cy="384048"/>
          </a:xfrm>
          <a:prstGeom prst="ellipse">
            <a:avLst/>
          </a:prstGeom>
          <a:solidFill>
            <a:srgbClr val="7E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Oval 4"/>
          <p:cNvSpPr/>
          <p:nvPr/>
        </p:nvSpPr>
        <p:spPr>
          <a:xfrm>
            <a:off x="9317736" y="1325880"/>
            <a:ext cx="384048" cy="38404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092440" y="1965960"/>
            <a:ext cx="29260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A6B5CA"/>
                </a:solidFill>
                <a:latin typeface="Aptos"/>
              </a:defRPr>
            </a:pPr>
            <a:r>
              <a:rPr/>
              <a:t>FROM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423160"/>
            <a:ext cx="29260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EFF4FA"/>
                </a:solidFill>
                <a:latin typeface="Aptos"/>
              </a:defRPr>
            </a:pPr>
            <a:r>
              <a:rPr/>
              <a:t>TO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907792"/>
            <a:ext cx="29260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31DCBE"/>
                </a:solidFill>
                <a:latin typeface="Aptos"/>
              </a:defRPr>
            </a:pPr>
            <a:r>
              <a:rPr/>
              <a:t>TO OBSERVED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92440" y="3657600"/>
            <a:ext cx="2834640" cy="0"/>
          </a:xfrm>
          <a:prstGeom prst="line">
            <a:avLst/>
          </a:prstGeom>
          <a:ln w="1905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92440" y="4069080"/>
            <a:ext cx="630936" cy="621792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110727" y="4270248"/>
            <a:ext cx="594360" cy="20116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31DCBE"/>
                </a:solidFill>
                <a:latin typeface="Aptos"/>
              </a:defRPr>
            </a:pPr>
            <a:r>
              <a:rPr/>
              <a:t>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4069080"/>
            <a:ext cx="630936" cy="621792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833104" y="4270248"/>
            <a:ext cx="594360" cy="20116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7E84FF"/>
                </a:solidFill>
                <a:latin typeface="Aptos"/>
              </a:defRPr>
            </a:pPr>
            <a:r>
              <a:rPr/>
              <a:t>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7192" y="4069080"/>
            <a:ext cx="630936" cy="621792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9555480" y="4270248"/>
            <a:ext cx="594360" cy="20116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BE5C"/>
                </a:solidFill>
                <a:latin typeface="Aptos"/>
              </a:defRPr>
            </a:pPr>
            <a:r>
              <a:rPr/>
              <a:t>SCAN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59567" y="4069080"/>
            <a:ext cx="630936" cy="621792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277855" y="4270248"/>
            <a:ext cx="594360" cy="20116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BDC99"/>
                </a:solidFill>
                <a:latin typeface="Aptos"/>
              </a:defRPr>
            </a:pPr>
            <a:r>
              <a:rPr/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77240"/>
            <a:ext cx="630936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1DCBE"/>
                </a:solidFill>
                <a:latin typeface="Aptos"/>
              </a:defRPr>
            </a:pPr>
            <a:r>
              <a:rPr/>
              <a:t>FINAL CAPSTONE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325880"/>
            <a:ext cx="6492240" cy="9144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EFF4FA"/>
                </a:solidFill>
                <a:latin typeface="Aptos"/>
              </a:defRPr>
            </a:pPr>
            <a:r>
              <a:rPr/>
              <a:t>DevTrack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2240280"/>
            <a:ext cx="6217920" cy="6858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A6B5CA"/>
                </a:solidFill>
                <a:latin typeface="Aptos"/>
              </a:defRPr>
            </a:pPr>
            <a:r>
              <a:rPr/>
              <a:t>Developer Project &amp; Issue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A6B5CA"/>
                </a:solidFill>
                <a:latin typeface="Aptos"/>
              </a:defRPr>
            </a:pPr>
            <a:r>
              <a:rPr/>
              <a:t>Management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337560"/>
            <a:ext cx="6126480" cy="5486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FF4FA"/>
                </a:solidFill>
                <a:latin typeface="Aptos"/>
              </a:defRPr>
            </a:pPr>
            <a:r>
              <a:rPr/>
              <a:t>A full-stack application delivered through a reproducible DevOps workflow.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160520"/>
            <a:ext cx="192024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58952" y="4178807"/>
            <a:ext cx="18288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31DCBE"/>
                </a:solidFill>
                <a:latin typeface="Aptos"/>
              </a:defRPr>
            </a:pPr>
            <a:r>
              <a:rPr/>
              <a:t>AWS • EKS • GITOPS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160520"/>
            <a:ext cx="201168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2788920" y="4178807"/>
            <a:ext cx="192024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E84FF"/>
                </a:solidFill>
                <a:latin typeface="Aptos"/>
              </a:defRPr>
            </a:pPr>
            <a:r>
              <a:rPr/>
              <a:t>CI/CD • TRIVY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57800"/>
            <a:ext cx="6217920" cy="3200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Pranav Gupta  | 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6492240" cy="36576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github.com/Pranav-learner/DevOps_Capstone_Project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63640"/>
            <a:ext cx="64008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Final verification session: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01 • 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Track engineering work. Ship it reliably.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combines a useful issue-management product with a production-style delivery path.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20440" cy="18288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64008" cy="182880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315468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FF4FA"/>
                </a:solidFill>
                <a:latin typeface="Aptos"/>
              </a:defRPr>
            </a:pPr>
            <a:r>
              <a:rPr/>
              <a:t>The product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96312"/>
            <a:ext cx="3154680" cy="12070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Issues need a shared place for status, priority, due dates, labels, search and progress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520440" cy="18288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4343400" y="1965960"/>
            <a:ext cx="64008" cy="182880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44568" y="2121408"/>
            <a:ext cx="315468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FF4FA"/>
                </a:solidFill>
                <a:latin typeface="Aptos"/>
              </a:defRPr>
            </a:pPr>
            <a:r>
              <a:rPr/>
              <a:t>The delivery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96312"/>
            <a:ext cx="3154680" cy="12070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Manual releases are hard to reproduce; unscanned images and missing metrics increase operational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520440" cy="18288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8046720" y="1965960"/>
            <a:ext cx="64008" cy="182880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47888" y="2121408"/>
            <a:ext cx="315468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FF4FA"/>
                </a:solidFill>
                <a:latin typeface="Aptos"/>
              </a:defRPr>
            </a:pPr>
            <a:r>
              <a:rPr/>
              <a:t>The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96312"/>
            <a:ext cx="3154680" cy="12070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Build the app, test it, containerize it, scan images, deploy declaratively, and observe runtime behavior.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10789920" cy="4114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1DCBE"/>
                </a:solidFill>
                <a:latin typeface="Aptos"/>
              </a:defRPr>
            </a:pPr>
            <a:r>
              <a:rPr/>
              <a:t>Design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10607040" cy="6858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EFF4FA"/>
                </a:solidFill>
                <a:latin typeface="Aptos"/>
              </a:defRPr>
            </a:pPr>
            <a:r>
              <a:rPr/>
              <a:t>Git defines desired state. Automated checks provide evidence. Runtime health and metrics show whether the deployment is working.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182880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77240" y="5733288"/>
            <a:ext cx="173736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31DCBE"/>
                </a:solidFill>
                <a:latin typeface="Aptos"/>
              </a:defRPr>
            </a:pPr>
            <a:r>
              <a:rPr/>
              <a:t>APPLICATION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5715000"/>
            <a:ext cx="182880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2743200" y="5733288"/>
            <a:ext cx="173736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E84FF"/>
                </a:solidFill>
                <a:latin typeface="Aptos"/>
              </a:defRPr>
            </a:pPr>
            <a:r>
              <a:rPr/>
              <a:t>DELIVERY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5715000"/>
            <a:ext cx="182880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4709159" y="5733288"/>
            <a:ext cx="173736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BE5C"/>
                </a:solidFill>
                <a:latin typeface="Aptos"/>
              </a:defRPr>
            </a:pPr>
            <a:r>
              <a:rPr/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02 •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A dashboard plus a full issue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Final application build: commit 63708a4; browser verification performed during the final project session.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20440" cy="14173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141732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41247" y="2029967"/>
            <a:ext cx="315468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04872"/>
            <a:ext cx="3154680" cy="7955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Summary cards, workflow distribution, priority breakdown and recent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14173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64008" cy="141732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44568" y="2029967"/>
            <a:ext cx="315468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Issue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04872"/>
            <a:ext cx="3154680" cy="7955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Create, view, update and delete issues with validated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520440" cy="14173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64008" cy="141732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47888" y="2029967"/>
            <a:ext cx="315468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Search &amp;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04872"/>
            <a:ext cx="3154680" cy="7955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Text search, status, priority, assignee, overdue filtering and sorting.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3520440" cy="14173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64008" cy="141732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41247" y="3721608"/>
            <a:ext cx="315468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Workflow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096511"/>
            <a:ext cx="3154680" cy="7955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Status from backlog to done, priority from low to critical, due dates and labels.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566160"/>
            <a:ext cx="3520440" cy="14173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ectangle 23"/>
          <p:cNvSpPr/>
          <p:nvPr/>
        </p:nvSpPr>
        <p:spPr>
          <a:xfrm>
            <a:off x="4343400" y="3566160"/>
            <a:ext cx="64008" cy="141732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44568" y="3721608"/>
            <a:ext cx="315468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Persistent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096511"/>
            <a:ext cx="3154680" cy="7955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PostgreSQL 16, SQLAlchemy models and Alembic schema migrations.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566160"/>
            <a:ext cx="3520440" cy="14173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Rectangle 27"/>
          <p:cNvSpPr/>
          <p:nvPr/>
        </p:nvSpPr>
        <p:spPr>
          <a:xfrm>
            <a:off x="8046720" y="3566160"/>
            <a:ext cx="64008" cy="141732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247888" y="3721608"/>
            <a:ext cx="315468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Responsive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096511"/>
            <a:ext cx="3154680" cy="7955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React interface with collapsible navigation and a usable issue workspace.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1DCBE"/>
                </a:solidFill>
                <a:latin typeface="Aptos"/>
              </a:defRPr>
            </a:pPr>
            <a:r>
              <a:rPr/>
              <a:t>Live deployment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789920" cy="3200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Frontend, API health checks and issue statistics were verified during the final AWS session.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03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Four paths, one rule: Git changes the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Request path, CI path, GitOps path and infrastructure/observability path.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137160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REQUEST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828800"/>
            <a:ext cx="1828800" cy="82296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920240" y="201168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7E84FF"/>
                </a:solidFill>
                <a:latin typeface="Aptos"/>
              </a:defRPr>
            </a:pPr>
            <a:r>
              <a:rPr/>
              <a:t>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7E84FF"/>
                </a:solidFill>
                <a:latin typeface="Aptos"/>
              </a:defRPr>
            </a:pPr>
            <a:r>
              <a:rPr/>
              <a:t>React SPA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28800"/>
            <a:ext cx="1828800" cy="82296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251959" y="201168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1DCBE"/>
                </a:solidFill>
                <a:latin typeface="Aptos"/>
              </a:defRPr>
            </a:pPr>
            <a:r>
              <a:rPr/>
              <a:t>Frontend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1DCBE"/>
                </a:solidFill>
                <a:latin typeface="Aptos"/>
              </a:defRPr>
            </a:pPr>
            <a:r>
              <a:rPr/>
              <a:t>Nginx :8080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28800"/>
            <a:ext cx="1828800" cy="82296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BE5C"/>
                </a:solidFill>
                <a:latin typeface="Aptos"/>
              </a:defRPr>
            </a:pPr>
            <a:r>
              <a:rPr/>
              <a:t>Backend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BE5C"/>
                </a:solidFill>
                <a:latin typeface="Aptos"/>
              </a:defRPr>
            </a:pPr>
            <a:r>
              <a:rPr/>
              <a:t>FastAPI :8000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828800"/>
            <a:ext cx="1828800" cy="82296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915400" y="201168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5BDC99"/>
                </a:solidFill>
                <a:latin typeface="Aptos"/>
              </a:defRPr>
            </a:pPr>
            <a:r>
              <a:rPr/>
              <a:t>PostgreSQL 16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5BDC99"/>
                </a:solidFill>
                <a:latin typeface="Aptos"/>
              </a:defRPr>
            </a:pPr>
            <a:r>
              <a:rPr/>
              <a:t>EBS PVC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2240280"/>
            <a:ext cx="365760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2240280"/>
            <a:ext cx="365760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66760" y="2240280"/>
            <a:ext cx="365760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3063240"/>
            <a:ext cx="137160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CI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017520"/>
            <a:ext cx="1828800" cy="822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920240" y="320040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7E84FF"/>
                </a:solidFill>
                <a:latin typeface="Aptos"/>
              </a:defRPr>
            </a:pPr>
            <a:r>
              <a:rPr/>
              <a:t>GitHub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7E84FF"/>
                </a:solidFill>
                <a:latin typeface="Aptos"/>
              </a:defRPr>
            </a:pPr>
            <a:r>
              <a:rPr/>
              <a:t>push / 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017520"/>
            <a:ext cx="1828800" cy="822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251959" y="320040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1DCBE"/>
                </a:solidFill>
                <a:latin typeface="Aptos"/>
              </a:defRPr>
            </a:pPr>
            <a:r>
              <a:rPr/>
              <a:t>Actions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1DCBE"/>
                </a:solidFill>
                <a:latin typeface="Aptos"/>
              </a:defRPr>
            </a:pPr>
            <a:r>
              <a:rPr/>
              <a:t>pytest + Vite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017520"/>
            <a:ext cx="1828800" cy="822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583679" y="320040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BE5C"/>
                </a:solidFill>
                <a:latin typeface="Aptos"/>
              </a:defRPr>
            </a:pPr>
            <a:r>
              <a:rPr/>
              <a:t>Buildx + GHCR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BE5C"/>
                </a:solidFill>
                <a:latin typeface="Aptos"/>
              </a:defRPr>
            </a:pPr>
            <a:r>
              <a:rPr/>
              <a:t>SHA images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3017520"/>
            <a:ext cx="1828800" cy="822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915400" y="320040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707E"/>
                </a:solidFill>
                <a:latin typeface="Aptos"/>
              </a:defRPr>
            </a:pPr>
            <a:r>
              <a:rPr/>
              <a:t>Trivy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707E"/>
                </a:solidFill>
                <a:latin typeface="Aptos"/>
              </a:defRPr>
            </a:pPr>
            <a:r>
              <a:rPr/>
              <a:t>OS + libraries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03320" y="3429000"/>
            <a:ext cx="365760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35040" y="3429000"/>
            <a:ext cx="365760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66760" y="3429000"/>
            <a:ext cx="365760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4251960"/>
            <a:ext cx="137160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GITOPS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4206240"/>
            <a:ext cx="1828800" cy="822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920240" y="438912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7E84FF"/>
                </a:solidFill>
                <a:latin typeface="Aptos"/>
              </a:defRPr>
            </a:pPr>
            <a:r>
              <a:rPr/>
              <a:t>Git main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7E84FF"/>
                </a:solidFill>
                <a:latin typeface="Aptos"/>
              </a:defRPr>
            </a:pPr>
            <a:r>
              <a:rPr/>
              <a:t>Helm values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4206240"/>
            <a:ext cx="1828800" cy="822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251959" y="438912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1DCBE"/>
                </a:solidFill>
                <a:latin typeface="Aptos"/>
              </a:defRPr>
            </a:pPr>
            <a:r>
              <a:rPr/>
              <a:t>ArgoCD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1DCBE"/>
                </a:solidFill>
                <a:latin typeface="Aptos"/>
              </a:defRPr>
            </a:pPr>
            <a:r>
              <a:rPr/>
              <a:t>Auto-sync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206240"/>
            <a:ext cx="1828800" cy="822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583679" y="438912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BE5C"/>
                </a:solidFill>
                <a:latin typeface="Aptos"/>
              </a:defRPr>
            </a:pPr>
            <a:r>
              <a:rPr/>
              <a:t>Helm chart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BE5C"/>
                </a:solidFill>
                <a:latin typeface="Aptos"/>
              </a:defRPr>
            </a:pPr>
            <a:r>
              <a:rPr/>
              <a:t>Desired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4206240"/>
            <a:ext cx="1828800" cy="822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8915400" y="4389120"/>
            <a:ext cx="1645920" cy="43891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5BDC99"/>
                </a:solidFill>
                <a:latin typeface="Aptos"/>
              </a:defRPr>
            </a:pPr>
            <a:r>
              <a:rPr/>
              <a:t>Amazon EKS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5BDC99"/>
                </a:solidFill>
                <a:latin typeface="Aptos"/>
              </a:defRPr>
            </a:pPr>
            <a:r>
              <a:rPr/>
              <a:t>Pods + Services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703320" y="4617720"/>
            <a:ext cx="365760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35040" y="4617720"/>
            <a:ext cx="365760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66760" y="4617720"/>
            <a:ext cx="365760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828800" y="5394960"/>
            <a:ext cx="8823960" cy="566928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2011680" y="5559552"/>
            <a:ext cx="84124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EFF4FA"/>
                </a:solidFill>
                <a:latin typeface="Aptos"/>
              </a:defRPr>
            </a:pPr>
            <a:r>
              <a:rPr/>
              <a:t>Terraform provisions AWS networking and EKS  •  Prometheus scrapes /metrics  •  Grafana visualizes runtime signals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04 •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Every layer has a defined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A concise view of the technologies used in the repository and deployment.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286000" cy="16459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164592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41247" y="2029967"/>
            <a:ext cx="19202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04872"/>
            <a:ext cx="1920240" cy="10241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React 19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Vite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Oxlint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Nginx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74519"/>
            <a:ext cx="2286000" cy="16459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3520440" y="1874519"/>
            <a:ext cx="64008" cy="164592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721608" y="2029967"/>
            <a:ext cx="19202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Backend &amp;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04872"/>
            <a:ext cx="1920240" cy="10241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Python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FastAPI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Pydantic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Uvicorn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2286000" cy="16459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64008" cy="164592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601968" y="2029967"/>
            <a:ext cx="19202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Data &amp;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404872"/>
            <a:ext cx="1920240" cy="10241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PostgreSQL 16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SQLAlchemy 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Alembic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Pytest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874519"/>
            <a:ext cx="2286000" cy="16459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ectangle 19"/>
          <p:cNvSpPr/>
          <p:nvPr/>
        </p:nvSpPr>
        <p:spPr>
          <a:xfrm>
            <a:off x="9281160" y="1874519"/>
            <a:ext cx="64008" cy="1645920"/>
          </a:xfrm>
          <a:prstGeom prst="rect">
            <a:avLst/>
          </a:prstGeom>
          <a:solidFill>
            <a:srgbClr val="FF707E"/>
          </a:solidFill>
          <a:ln w="12700">
            <a:solidFill>
              <a:srgbClr val="FF7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482328" y="2029967"/>
            <a:ext cx="19202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Delivery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404872"/>
            <a:ext cx="1920240" cy="10241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GitHub Actions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Docker / Compose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GHCR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Trivy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3977639"/>
            <a:ext cx="2286000" cy="16459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ectangle 23"/>
          <p:cNvSpPr/>
          <p:nvPr/>
        </p:nvSpPr>
        <p:spPr>
          <a:xfrm>
            <a:off x="2057400" y="3977639"/>
            <a:ext cx="64008" cy="1645920"/>
          </a:xfrm>
          <a:prstGeom prst="rect">
            <a:avLst/>
          </a:prstGeom>
          <a:solidFill>
            <a:srgbClr val="5BDC99"/>
          </a:solidFill>
          <a:ln w="12700">
            <a:solidFill>
              <a:srgbClr val="5B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2258568" y="4133087"/>
            <a:ext cx="19202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8568" y="4507992"/>
            <a:ext cx="1920240" cy="10241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Terraform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AWS VPC / IAM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Amazon EKS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Managed nodes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3977639"/>
            <a:ext cx="2286000" cy="16459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Rectangle 27"/>
          <p:cNvSpPr/>
          <p:nvPr/>
        </p:nvSpPr>
        <p:spPr>
          <a:xfrm>
            <a:off x="4937760" y="3977639"/>
            <a:ext cx="64008" cy="164592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138928" y="4133087"/>
            <a:ext cx="19202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507992"/>
            <a:ext cx="1920240" cy="10241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Kubernetes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Helm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ArgoCD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Kustomize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3977639"/>
            <a:ext cx="2286000" cy="16459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Rectangle 31"/>
          <p:cNvSpPr/>
          <p:nvPr/>
        </p:nvSpPr>
        <p:spPr>
          <a:xfrm>
            <a:off x="7818120" y="3977639"/>
            <a:ext cx="64008" cy="164592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8019288" y="4133087"/>
            <a:ext cx="19202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4507992"/>
            <a:ext cx="1920240" cy="10241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prometheus-client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Prometheus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Grafana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Provisioned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05 • BACKEND, DATA &amp;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Validated REST API with isolated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Evidence from the final verification report: 16 backend tests passed.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166360" cy="3611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480560" cy="3200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1DCBE"/>
                </a:solidFill>
                <a:latin typeface="Aptos"/>
              </a:defRPr>
            </a:pPr>
            <a:r>
              <a:rPr/>
              <a:t>REST API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6858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BE5C"/>
                </a:solidFill>
                <a:latin typeface="Aptos"/>
              </a:defRPr>
            </a:pPr>
            <a:r>
              <a:rPr/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578608"/>
            <a:ext cx="246888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EFF4FA"/>
                </a:solidFill>
                <a:latin typeface="Aptos"/>
              </a:defRPr>
            </a:pPr>
            <a:r>
              <a:rPr/>
              <a:t>/api/issues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78608"/>
            <a:ext cx="141732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List, filter, search, 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6858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BE5C"/>
                </a:solidFill>
                <a:latin typeface="Aptos"/>
              </a:defRPr>
            </a:pPr>
            <a:r>
              <a:rPr/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962656"/>
            <a:ext cx="246888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EFF4FA"/>
                </a:solidFill>
                <a:latin typeface="Aptos"/>
              </a:defRPr>
            </a:pPr>
            <a:r>
              <a:rPr/>
              <a:t>/api/issues/stats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62656"/>
            <a:ext cx="141732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Dashboard aggregates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46703"/>
            <a:ext cx="6858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BE5C"/>
                </a:solidFill>
                <a:latin typeface="Aptos"/>
              </a:defRPr>
            </a:pPr>
            <a:r>
              <a:rPr/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346703"/>
            <a:ext cx="246888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EFF4FA"/>
                </a:solidFill>
                <a:latin typeface="Aptos"/>
              </a:defRPr>
            </a:pPr>
            <a:r>
              <a:rPr/>
              <a:t>/api/issues/{id}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46703"/>
            <a:ext cx="141732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Read a single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6858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BE5C"/>
                </a:solidFill>
                <a:latin typeface="Aptos"/>
              </a:defRPr>
            </a:pPr>
            <a:r>
              <a:rPr/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730752"/>
            <a:ext cx="246888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EFF4FA"/>
                </a:solidFill>
                <a:latin typeface="Aptos"/>
              </a:defRPr>
            </a:pPr>
            <a:r>
              <a:rPr/>
              <a:t>/api/issues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30752"/>
            <a:ext cx="141732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Create • HTTP 201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6858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BE5C"/>
                </a:solidFill>
                <a:latin typeface="Aptos"/>
              </a:defRPr>
            </a:pPr>
            <a:r>
              <a:rPr/>
              <a:t>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114800"/>
            <a:ext cx="246888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EFF4FA"/>
                </a:solidFill>
                <a:latin typeface="Aptos"/>
              </a:defRPr>
            </a:pPr>
            <a:r>
              <a:rPr/>
              <a:t>/api/issues/{id}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14800"/>
            <a:ext cx="141732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Update issue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98848"/>
            <a:ext cx="6858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BE5C"/>
                </a:solidFill>
                <a:latin typeface="Aptos"/>
              </a:defRPr>
            </a:pPr>
            <a:r>
              <a:rPr/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498848"/>
            <a:ext cx="246888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EFF4FA"/>
                </a:solidFill>
                <a:latin typeface="Aptos"/>
              </a:defRPr>
            </a:pPr>
            <a:r>
              <a:rPr/>
              <a:t>/api/issues/{id}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498848"/>
            <a:ext cx="141732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Delete • HTTP 204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82896"/>
            <a:ext cx="6858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BE5C"/>
                </a:solidFill>
                <a:latin typeface="Aptos"/>
              </a:defRPr>
            </a:pPr>
            <a:r>
              <a:rPr/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4882896"/>
            <a:ext cx="246888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EFF4FA"/>
                </a:solidFill>
                <a:latin typeface="Aptos"/>
              </a:defRPr>
            </a:pPr>
            <a:r>
              <a:rPr/>
              <a:t>/health  •  /ready  •  /metrics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882896"/>
            <a:ext cx="141732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Health, readiness, metrics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1874519"/>
            <a:ext cx="2468880" cy="15087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Rectangle 30"/>
          <p:cNvSpPr/>
          <p:nvPr/>
        </p:nvSpPr>
        <p:spPr>
          <a:xfrm>
            <a:off x="6126480" y="1874519"/>
            <a:ext cx="64008" cy="150876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327648" y="2029967"/>
            <a:ext cx="21031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Data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404872"/>
            <a:ext cx="2103120" cy="88696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Issue status and priority, labels, due dates and timestamps.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1874519"/>
            <a:ext cx="2468880" cy="15087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Rectangle 34"/>
          <p:cNvSpPr/>
          <p:nvPr/>
        </p:nvSpPr>
        <p:spPr>
          <a:xfrm>
            <a:off x="8869680" y="1874519"/>
            <a:ext cx="64008" cy="150876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9070848" y="2029967"/>
            <a:ext cx="21031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Migrations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2404872"/>
            <a:ext cx="2103120" cy="88696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Alembic revisions applied in the final Kubernetes deployment.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611880"/>
            <a:ext cx="5212080" cy="1874519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6400800" y="3840480"/>
            <a:ext cx="457200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5BDC99"/>
                </a:solidFill>
                <a:latin typeface="Aptos"/>
              </a:defRPr>
            </a:pPr>
            <a:r>
              <a:rPr/>
              <a:t>16 / 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416552"/>
            <a:ext cx="457200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EFF4FA"/>
                </a:solidFill>
                <a:latin typeface="Aptos"/>
              </a:defRPr>
            </a:pPr>
            <a:r>
              <a:rPr/>
              <a:t>PYTEST TESTS PASSING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28032"/>
            <a:ext cx="4572000" cy="4572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Tests use an isolated in-memory SQLite setup rather than the production database.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06 •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A reproducible local stack in dependency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Docker Compose runs the database, API and frontend together.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834640" cy="237744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834640" cy="109728"/>
          </a:xfrm>
          <a:prstGeom prst="rect">
            <a:avLst/>
          </a:prstGeom>
          <a:solidFill>
            <a:srgbClr val="5BDC99"/>
          </a:solidFill>
          <a:ln w="12700">
            <a:solidFill>
              <a:srgbClr val="5B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468880" cy="3200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EFF4FA"/>
                </a:solidFill>
                <a:latin typeface="Aptos"/>
              </a:defRPr>
            </a:pPr>
            <a:r>
              <a:rPr/>
              <a:t>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46888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5BDC99"/>
                </a:solidFill>
                <a:latin typeface="Aptos"/>
              </a:defRPr>
            </a:pPr>
            <a:r>
              <a:rPr/>
              <a:t>postgres:16-alpine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2377440" cy="82296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Named data volume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pg_isready health check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5433 → 5432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148840"/>
            <a:ext cx="2834640" cy="237744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Rectangle 12"/>
          <p:cNvSpPr/>
          <p:nvPr/>
        </p:nvSpPr>
        <p:spPr>
          <a:xfrm>
            <a:off x="4160520" y="2148840"/>
            <a:ext cx="2834640" cy="109728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343400" y="2487168"/>
            <a:ext cx="2468880" cy="3200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EFF4FA"/>
                </a:solidFill>
                <a:latin typeface="Aptos"/>
              </a:defRPr>
            </a:pPr>
            <a:r>
              <a:rPr/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926080"/>
            <a:ext cx="246888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1DCBE"/>
                </a:solidFill>
                <a:latin typeface="Aptos"/>
              </a:defRPr>
            </a:pPr>
            <a:r>
              <a:rPr/>
              <a:t>python:3.12-slim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429000"/>
            <a:ext cx="2377440" cy="82296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Non-root app user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Alembic before Uvicorn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Health endpoint :8000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148840"/>
            <a:ext cx="2834640" cy="237744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ectangle 17"/>
          <p:cNvSpPr/>
          <p:nvPr/>
        </p:nvSpPr>
        <p:spPr>
          <a:xfrm>
            <a:off x="7543800" y="2148840"/>
            <a:ext cx="2834640" cy="109728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726679" y="2487168"/>
            <a:ext cx="2468880" cy="3200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EFF4FA"/>
                </a:solidFill>
                <a:latin typeface="Aptos"/>
              </a:defRPr>
            </a:pPr>
            <a:r>
              <a:rPr/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926080"/>
            <a:ext cx="246888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7E84FF"/>
                </a:solidFill>
                <a:latin typeface="Aptos"/>
              </a:defRPr>
            </a:pPr>
            <a:r>
              <a:rPr/>
              <a:t>Node build → Nginx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429000"/>
            <a:ext cx="2377440" cy="82296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Multi-stage 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Static SPA runtime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localhost:3000 → :8080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39312" y="3337560"/>
            <a:ext cx="429768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22592" y="3337560"/>
            <a:ext cx="429768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5840" y="5074920"/>
            <a:ext cx="10149840" cy="658368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234440" y="5285232"/>
            <a:ext cx="969264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FF4FA"/>
                </a:solidFill>
                <a:latin typeface="Aptos"/>
              </a:defRPr>
            </a:pPr>
            <a:r>
              <a:rPr/>
              <a:t>docker compose up --build  •  service_healthy dependency  •  service-name DNS on the bridge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97880"/>
            <a:ext cx="1005840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BE5C"/>
                </a:solidFill>
                <a:latin typeface="Aptos"/>
              </a:defRPr>
            </a:pPr>
            <a:r>
              <a:rPr/>
              <a:t>Re-run the local Compose check before the recorded demo; a previous report noted a base-image pull limitation in its sandbox.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07 • CI/CD &amp; DEVSECOPS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Quality gates before a SHA-tagged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CI verifies source and images; GitOps controls cluster rollout.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965960" cy="13716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Oval 7"/>
          <p:cNvSpPr/>
          <p:nvPr/>
        </p:nvSpPr>
        <p:spPr>
          <a:xfrm>
            <a:off x="850392" y="2221992"/>
            <a:ext cx="320040" cy="320040"/>
          </a:xfrm>
          <a:prstGeom prst="ellipse">
            <a:avLst/>
          </a:prstGeom>
          <a:solidFill>
            <a:srgbClr val="7E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50392" y="2276856"/>
            <a:ext cx="320040" cy="16459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B101D"/>
                </a:solidFill>
                <a:latin typeface="Aptos"/>
              </a:defRPr>
            </a:pPr>
            <a:r>
              <a:rPr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212848"/>
            <a:ext cx="123444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Push / 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761488"/>
            <a:ext cx="1645920" cy="4114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GitHub main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60904" y="2743200"/>
            <a:ext cx="292608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90088" y="2057400"/>
            <a:ext cx="1965960" cy="13716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Oval 13"/>
          <p:cNvSpPr/>
          <p:nvPr/>
        </p:nvSpPr>
        <p:spPr>
          <a:xfrm>
            <a:off x="3154680" y="2221992"/>
            <a:ext cx="320040" cy="320040"/>
          </a:xfrm>
          <a:prstGeom prst="ellipse">
            <a:avLst/>
          </a:prstGeom>
          <a:solidFill>
            <a:srgbClr val="3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154680" y="2276856"/>
            <a:ext cx="320040" cy="16459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B101D"/>
                </a:solidFill>
                <a:latin typeface="Aptos"/>
              </a:defRPr>
            </a:pPr>
            <a:r>
              <a:rPr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212848"/>
            <a:ext cx="123444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761488"/>
            <a:ext cx="1645920" cy="4114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pytest + Postgres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65192" y="2743200"/>
            <a:ext cx="292608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94376" y="2057400"/>
            <a:ext cx="1965960" cy="13716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Oval 19"/>
          <p:cNvSpPr/>
          <p:nvPr/>
        </p:nvSpPr>
        <p:spPr>
          <a:xfrm>
            <a:off x="5458968" y="2221992"/>
            <a:ext cx="320040" cy="320040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458968" y="2276856"/>
            <a:ext cx="320040" cy="16459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B101D"/>
                </a:solidFill>
                <a:latin typeface="Aptos"/>
              </a:defRPr>
            </a:pPr>
            <a:r>
              <a:rPr/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1304" y="2212848"/>
            <a:ext cx="123444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2761488"/>
            <a:ext cx="1645920" cy="4114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Vite + Docker Buildx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69480" y="2743200"/>
            <a:ext cx="292608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98664" y="2057400"/>
            <a:ext cx="1965960" cy="13716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Oval 25"/>
          <p:cNvSpPr/>
          <p:nvPr/>
        </p:nvSpPr>
        <p:spPr>
          <a:xfrm>
            <a:off x="7763256" y="2221992"/>
            <a:ext cx="320040" cy="320040"/>
          </a:xfrm>
          <a:prstGeom prst="ellipse">
            <a:avLst/>
          </a:prstGeom>
          <a:solidFill>
            <a:srgbClr val="5BD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7763256" y="2276856"/>
            <a:ext cx="320040" cy="16459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B101D"/>
                </a:solidFill>
                <a:latin typeface="Aptos"/>
              </a:defRPr>
            </a:pPr>
            <a:r>
              <a:rPr/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212848"/>
            <a:ext cx="123444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Publish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2761488"/>
            <a:ext cx="1645920" cy="4114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GHCR :&lt;commit-sha&gt;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73768" y="2743200"/>
            <a:ext cx="292608" cy="0"/>
          </a:xfrm>
          <a:prstGeom prst="line">
            <a:avLst/>
          </a:prstGeom>
          <a:ln w="25400">
            <a:solidFill>
              <a:srgbClr val="A6B5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02952" y="2057400"/>
            <a:ext cx="1965960" cy="13716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Oval 31"/>
          <p:cNvSpPr/>
          <p:nvPr/>
        </p:nvSpPr>
        <p:spPr>
          <a:xfrm>
            <a:off x="10067544" y="2221992"/>
            <a:ext cx="320040" cy="320040"/>
          </a:xfrm>
          <a:prstGeom prst="ellipse">
            <a:avLst/>
          </a:prstGeom>
          <a:solidFill>
            <a:srgbClr val="FF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10067544" y="2276856"/>
            <a:ext cx="320040" cy="16459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B101D"/>
                </a:solidFill>
                <a:latin typeface="Aptos"/>
              </a:defRPr>
            </a:pPr>
            <a:r>
              <a:rPr/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2212848"/>
            <a:ext cx="123444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Scan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7544" y="2761488"/>
            <a:ext cx="1645920" cy="4114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Trivy OS + libraries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3886200"/>
            <a:ext cx="5166360" cy="1325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Rectangle 36"/>
          <p:cNvSpPr/>
          <p:nvPr/>
        </p:nvSpPr>
        <p:spPr>
          <a:xfrm>
            <a:off x="777240" y="3886200"/>
            <a:ext cx="64008" cy="1325880"/>
          </a:xfrm>
          <a:prstGeom prst="rect">
            <a:avLst/>
          </a:prstGeom>
          <a:solidFill>
            <a:srgbClr val="FF707E"/>
          </a:solidFill>
          <a:ln w="12700">
            <a:solidFill>
              <a:srgbClr val="FF7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978408" y="4041648"/>
            <a:ext cx="48006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Security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4416552"/>
            <a:ext cx="4800600" cy="70408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Trivy scans backend and frontend OS/library dependencies; HIGH or CRITICAL findings fail the job.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886200"/>
            <a:ext cx="5166360" cy="1325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Rectangle 40"/>
          <p:cNvSpPr/>
          <p:nvPr/>
        </p:nvSpPr>
        <p:spPr>
          <a:xfrm>
            <a:off x="6217920" y="3886200"/>
            <a:ext cx="64008" cy="132588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6419088" y="4041648"/>
            <a:ext cx="48006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Traceability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4416552"/>
            <a:ext cx="4800600" cy="70408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Immutable commit-SHA image tags let each running pod be tied to a source revision.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532120"/>
            <a:ext cx="1060704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Final reported scan: backend image — 0 HIGH, 0 CRITICAL, 0 leaked secrets. Confirm both image results in the CI run during the live demo.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08 • 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Terraform builds the AWS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Final reported deployment region: ap-southeast-2 (Sydney).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6492240" cy="36118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594360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31DCBE"/>
                </a:solidFill>
                <a:latin typeface="Aptos"/>
              </a:defRPr>
            </a:pPr>
            <a:r>
              <a:rPr/>
              <a:t>VPC  •  10.0.0.0/16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51760"/>
            <a:ext cx="2743200" cy="224028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43000" y="2816352"/>
            <a:ext cx="237744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EFF4FA"/>
                </a:solidFill>
                <a:latin typeface="Aptos"/>
              </a:defRPr>
            </a:pPr>
            <a:r>
              <a:rPr/>
              <a:t>AZ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2377440" cy="4572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BE5C"/>
                </a:solidFill>
                <a:latin typeface="Aptos"/>
              </a:defRPr>
            </a:pPr>
            <a:r>
              <a:rPr/>
              <a:t>Public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BE5C"/>
                </a:solidFill>
                <a:latin typeface="Aptos"/>
              </a:defRPr>
            </a:pPr>
            <a:r>
              <a:rPr/>
              <a:t>10.0.1.0/24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69080"/>
            <a:ext cx="2377440" cy="4572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1DCBE"/>
                </a:solidFill>
                <a:latin typeface="Aptos"/>
              </a:defRPr>
            </a:pPr>
            <a:r>
              <a:rPr/>
              <a:t>Private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1DCBE"/>
                </a:solidFill>
                <a:latin typeface="Aptos"/>
              </a:defRPr>
            </a:pPr>
            <a:r>
              <a:rPr/>
              <a:t>10.0.10.0/24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651760"/>
            <a:ext cx="2743200" cy="224028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251960" y="2816352"/>
            <a:ext cx="237744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EFF4FA"/>
                </a:solidFill>
                <a:latin typeface="Aptos"/>
              </a:defRPr>
            </a:pPr>
            <a:r>
              <a:rPr/>
              <a:t>AZ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246120"/>
            <a:ext cx="2377440" cy="4572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BE5C"/>
                </a:solidFill>
                <a:latin typeface="Aptos"/>
              </a:defRPr>
            </a:pPr>
            <a:r>
              <a:rPr/>
              <a:t>Public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BE5C"/>
                </a:solidFill>
                <a:latin typeface="Aptos"/>
              </a:defRPr>
            </a:pPr>
            <a:r>
              <a:rPr/>
              <a:t>10.0.2.0/24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069080"/>
            <a:ext cx="2377440" cy="4572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1DCBE"/>
                </a:solidFill>
                <a:latin typeface="Aptos"/>
              </a:defRPr>
            </a:pPr>
            <a:r>
              <a:rPr/>
              <a:t>Private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1DCBE"/>
                </a:solidFill>
                <a:latin typeface="Aptos"/>
              </a:defRPr>
            </a:pPr>
            <a:r>
              <a:rPr/>
              <a:t>10.0.11.0/24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920240"/>
            <a:ext cx="3886200" cy="1051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Rectangle 17"/>
          <p:cNvSpPr/>
          <p:nvPr/>
        </p:nvSpPr>
        <p:spPr>
          <a:xfrm>
            <a:off x="7543800" y="1920240"/>
            <a:ext cx="64008" cy="105156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744968" y="2075688"/>
            <a:ext cx="35204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Terraform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450592"/>
            <a:ext cx="3520440" cy="42976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VPC, subnets, routes, NAT, security groups and IAM.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3246120"/>
            <a:ext cx="3886200" cy="10515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Rectangle 21"/>
          <p:cNvSpPr/>
          <p:nvPr/>
        </p:nvSpPr>
        <p:spPr>
          <a:xfrm>
            <a:off x="7543800" y="3246120"/>
            <a:ext cx="64008" cy="105156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744968" y="3401568"/>
            <a:ext cx="35204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Amazon 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3776472"/>
            <a:ext cx="3520440" cy="42976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Managed Kubernetes control plane and 2 × t3.medium worker nodes.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572000"/>
            <a:ext cx="3886200" cy="96012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ectangle 25"/>
          <p:cNvSpPr/>
          <p:nvPr/>
        </p:nvSpPr>
        <p:spPr>
          <a:xfrm>
            <a:off x="7543800" y="4572000"/>
            <a:ext cx="64008" cy="96012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7744968" y="4727448"/>
            <a:ext cx="352044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EBS CSI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5102352"/>
            <a:ext cx="3520440" cy="33832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Dynamic provisioning for the PostgreSQL persistent volume.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06440"/>
            <a:ext cx="1069848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Final audit reported 28 managed resources and a zero-change Terraform plan before teardown.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09 • KUBERNETES, HELM &amp; GITOPS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Declarative delivery with health checks and self-healing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The Helm chart packages the app; ArgoCD reconciles cluster state from Git.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6400800" cy="35661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16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7607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1DCBE"/>
                </a:solidFill>
                <a:latin typeface="Aptos"/>
              </a:defRPr>
            </a:pPr>
            <a:r>
              <a:rPr/>
              <a:t>EKS • namespace: devtrack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743200"/>
            <a:ext cx="1737360" cy="160020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78992" y="2926080"/>
            <a:ext cx="1591056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FF4FA"/>
                </a:solidFill>
                <a:latin typeface="Aptos"/>
              </a:defRPr>
            </a:pPr>
            <a:r>
              <a:rPr/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01568"/>
            <a:ext cx="1591056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7E84FF"/>
                </a:solidFill>
                <a:latin typeface="Aptos"/>
              </a:defRPr>
            </a:pPr>
            <a:r>
              <a:rPr/>
              <a:t>3 replicas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767328"/>
            <a:ext cx="1591056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Service :80 → :8080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743200"/>
            <a:ext cx="1737360" cy="160020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3136392" y="2926080"/>
            <a:ext cx="1591056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FF4FA"/>
                </a:solidFill>
                <a:latin typeface="Aptos"/>
              </a:defRPr>
            </a:pPr>
            <a:r>
              <a:rPr/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401568"/>
            <a:ext cx="1591056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2 replicas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767328"/>
            <a:ext cx="1591056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Service :8000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743200"/>
            <a:ext cx="1737360" cy="160020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193792" y="2926080"/>
            <a:ext cx="1591056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FF4FA"/>
                </a:solidFill>
                <a:latin typeface="Aptos"/>
              </a:defRPr>
            </a:pPr>
            <a:r>
              <a:rPr/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401568"/>
            <a:ext cx="1591056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BE5C"/>
                </a:solidFill>
                <a:latin typeface="Aptos"/>
              </a:defRPr>
            </a:pPr>
            <a:r>
              <a:rPr/>
              <a:t>1 replica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767328"/>
            <a:ext cx="1591056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Service :5432 • PVC 1Gi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5760720" cy="3200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EFF4FA"/>
                </a:solidFill>
                <a:latin typeface="Aptos"/>
              </a:defRPr>
            </a:pPr>
            <a:r>
              <a:rPr/>
              <a:t>Ingress: / → frontend   •   /api, /docs →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1920240"/>
            <a:ext cx="3840480" cy="123444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Rectangle 22"/>
          <p:cNvSpPr/>
          <p:nvPr/>
        </p:nvSpPr>
        <p:spPr>
          <a:xfrm>
            <a:off x="7543800" y="1920240"/>
            <a:ext cx="64008" cy="123444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744968" y="2075688"/>
            <a:ext cx="34747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Helm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450592"/>
            <a:ext cx="3474720" cy="6126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Parameterized chart, replica counts, resources, storage and ingress.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429000"/>
            <a:ext cx="3840480" cy="123444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Rectangle 26"/>
          <p:cNvSpPr/>
          <p:nvPr/>
        </p:nvSpPr>
        <p:spPr>
          <a:xfrm>
            <a:off x="7543800" y="3429000"/>
            <a:ext cx="64008" cy="123444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7744968" y="3584448"/>
            <a:ext cx="34747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ArgoCD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3959352"/>
            <a:ext cx="3474720" cy="6126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Applications for DevTrack and monitoring; automatic sync and self-heal.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937760"/>
            <a:ext cx="3840480" cy="82296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Rectangle 30"/>
          <p:cNvSpPr/>
          <p:nvPr/>
        </p:nvSpPr>
        <p:spPr>
          <a:xfrm>
            <a:off x="7543800" y="4937760"/>
            <a:ext cx="64008" cy="82296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7744968" y="5093208"/>
            <a:ext cx="34747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FF4FA"/>
                </a:solidFill>
                <a:latin typeface="Aptos"/>
              </a:defRPr>
            </a:pPr>
            <a:r>
              <a:rPr/>
              <a:t>Runtime controls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8" y="5468112"/>
            <a:ext cx="3474720" cy="20116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Liveness/readiness probes, non-root containers and resource limits.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10 •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Instrumented in code, scraped by Prometheus, shown in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Monitoring evidence was captured during the final deployment session.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337560" cy="18288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64008" cy="182880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29718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Instrument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96312"/>
            <a:ext cx="2971800" cy="12070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FastAPI exposes /metrics with request counters, request-duration histograms and app/process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337560" cy="18288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4434840" y="1965960"/>
            <a:ext cx="64008" cy="182880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636007" y="2121408"/>
            <a:ext cx="29718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Collect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496312"/>
            <a:ext cx="2971800" cy="12070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Prometheus scrapes the backend service every 15 seconds; final report showed the target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337560" cy="18288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8138160" y="1965960"/>
            <a:ext cx="64008" cy="182880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339328" y="2121408"/>
            <a:ext cx="29718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96312"/>
            <a:ext cx="2971800" cy="12070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Grafana dashboard: DevTrack — Application Observability &amp;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10515600" cy="3200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1DCBE"/>
                </a:solidFill>
                <a:latin typeface="Aptos"/>
              </a:defRPr>
            </a:pPr>
            <a:r>
              <a:rPr/>
              <a:t>Signals to demonstrate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00600"/>
            <a:ext cx="196596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68680" y="4818888"/>
            <a:ext cx="1874519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31DCBE"/>
                </a:solidFill>
                <a:latin typeface="Aptos"/>
              </a:defRPr>
            </a:pPr>
            <a:r>
              <a:rPr/>
              <a:t>Total HTTP 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4800600"/>
            <a:ext cx="196596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063239" y="4818888"/>
            <a:ext cx="1874519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7E84FF"/>
                </a:solidFill>
                <a:latin typeface="Aptos"/>
              </a:defRPr>
            </a:pPr>
            <a:r>
              <a:rPr/>
              <a:t>Request rate by route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4800600"/>
            <a:ext cx="196596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5257800" y="4818888"/>
            <a:ext cx="1874519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BE5C"/>
                </a:solidFill>
                <a:latin typeface="Aptos"/>
              </a:defRPr>
            </a:pPr>
            <a:r>
              <a:rPr/>
              <a:t>P95 latency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4800600"/>
            <a:ext cx="196596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7452360" y="4818888"/>
            <a:ext cx="1874519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707E"/>
                </a:solidFill>
                <a:latin typeface="Aptos"/>
              </a:defRPr>
            </a:pPr>
            <a:r>
              <a:rPr/>
              <a:t>HTTP error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4800600"/>
            <a:ext cx="1965960" cy="310896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646920" y="4818888"/>
            <a:ext cx="1874519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5BDC99"/>
                </a:solidFill>
                <a:latin typeface="Aptos"/>
              </a:defRPr>
            </a:pPr>
            <a:r>
              <a:rPr/>
              <a:t>Process CPU / RSS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Show Prometheus Targets = UP, then open the populated Grafana dashboard and set the range to Last 30 minutes.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11 • TROUBLESHOOTING &amp;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Diagnose symptoms from evidence, then fix the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Two controlled Kubernetes failure drills were documented in the project.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166360" cy="22402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64008" cy="2240280"/>
          </a:xfrm>
          <a:prstGeom prst="rect">
            <a:avLst/>
          </a:prstGeom>
          <a:solidFill>
            <a:srgbClr val="FF707E"/>
          </a:solidFill>
          <a:ln w="12700">
            <a:solidFill>
              <a:srgbClr val="FF7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48006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Drill 1 • ImagePullBackOff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96312"/>
            <a:ext cx="4800600" cy="161848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Inject: invalid image tag.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Diagnose: inspect pod events and registry error.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Fix: restore a valid SHA-tagged image.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Verify: pod returns to Running.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166360" cy="22402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64008" cy="224028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64807" y="2121408"/>
            <a:ext cx="48006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Drill 2 • Service has no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496312"/>
            <a:ext cx="4800600" cy="161848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Inject: mismatched Service selector.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Diagnose: compare Service selectors with pod labels.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Fix: correct the selector.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Verify: endpoint appears and /health returns 200.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09160"/>
            <a:ext cx="10469880" cy="777240"/>
          </a:xfrm>
          <a:prstGeom prst="roundRect">
            <a:avLst/>
          </a:prstGeom>
          <a:solidFill>
            <a:srgbClr val="1B263C"/>
          </a:solidFill>
          <a:ln w="12700">
            <a:solidFill>
              <a:srgbClr val="1B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51560" y="4956048"/>
            <a:ext cx="9966960" cy="2743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FF4FA"/>
                </a:solidFill>
                <a:latin typeface="Aptos"/>
              </a:defRPr>
            </a:pPr>
            <a:r>
              <a:rPr/>
              <a:t>Operational lesson: inspect events, selectors, IAM and health probes before restarting or recreating infrastructure.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12 • FINAL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Evidence first: what was verified in the final AWS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Reported status on 15 October 2026; cloud resources are not claimed destroyed by this presentation.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383280" cy="11430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64008" cy="1143000"/>
          </a:xfrm>
          <a:prstGeom prst="rect">
            <a:avLst/>
          </a:prstGeom>
          <a:solidFill>
            <a:srgbClr val="5BDC99"/>
          </a:solidFill>
          <a:ln w="12700">
            <a:solidFill>
              <a:srgbClr val="5B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30175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50592"/>
            <a:ext cx="3017520" cy="5212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Frontend, API health/readiness and issue statistics returned successfully.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383280" cy="11430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64008" cy="114300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90288" y="2075688"/>
            <a:ext cx="30175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Tests &amp;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50592"/>
            <a:ext cx="3017520" cy="5212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16/16 pytest passed; final report states 0 HIGH/CRITICAL and 0 leaked secrets for backend scan.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383280" cy="11430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64008" cy="114300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47888" y="2075688"/>
            <a:ext cx="30175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50592"/>
            <a:ext cx="3017520" cy="5212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EKS active; 2 nodes Ready; Terraform plan reported no changes.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83280"/>
            <a:ext cx="3383280" cy="11430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64008" cy="114300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32688" y="3538728"/>
            <a:ext cx="30175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Kubernetes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913632"/>
            <a:ext cx="3017520" cy="5212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Backend 2/2, frontend 3/3, PostgreSQL 1/1 Running; PVC Bound.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383280"/>
            <a:ext cx="3383280" cy="11430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ectangle 23"/>
          <p:cNvSpPr/>
          <p:nvPr/>
        </p:nvSpPr>
        <p:spPr>
          <a:xfrm>
            <a:off x="4389120" y="3383280"/>
            <a:ext cx="64008" cy="114300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90288" y="3538728"/>
            <a:ext cx="30175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GitOps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913632"/>
            <a:ext cx="3017520" cy="5212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Helm deployed; ArgoCD applications synced/healthy, with Ingress readiness checked.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383280"/>
            <a:ext cx="3383280" cy="114300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Rectangle 27"/>
          <p:cNvSpPr/>
          <p:nvPr/>
        </p:nvSpPr>
        <p:spPr>
          <a:xfrm>
            <a:off x="8046720" y="3383280"/>
            <a:ext cx="64008" cy="1143000"/>
          </a:xfrm>
          <a:prstGeom prst="rect">
            <a:avLst/>
          </a:prstGeom>
          <a:solidFill>
            <a:srgbClr val="5BDC99"/>
          </a:solidFill>
          <a:ln w="12700">
            <a:solidFill>
              <a:srgbClr val="5B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247888" y="3538728"/>
            <a:ext cx="301752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FF4FA"/>
                </a:solidFill>
                <a:latin typeface="Aptos"/>
              </a:defRPr>
            </a:pPr>
            <a:r>
              <a:rPr/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913632"/>
            <a:ext cx="3017520" cy="521207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A6B5CA"/>
                </a:solidFill>
                <a:latin typeface="Aptos"/>
              </a:defRPr>
            </a:pPr>
            <a:r>
              <a:rPr/>
              <a:t>Prometheus target UP; Grafana dashboard and metrics verified in final session.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97880"/>
            <a:ext cx="10424160" cy="22860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Do not present a teardown as complete until the actual destroy command and final AWS state are verified.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1DCBE"/>
                </a:solidFill>
                <a:latin typeface="Aptos"/>
              </a:defRPr>
            </a:pPr>
            <a:r>
              <a:rPr/>
              <a:t>13 • 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50292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EFF4FA"/>
                </a:solidFill>
                <a:latin typeface="Aptos"/>
              </a:defRPr>
            </a:pPr>
            <a:r>
              <a:rPr/>
              <a:t>From commit to observed workload—with a clear cost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demonstrates a connected application and DevOps delivery workflow.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627632"/>
            <a:ext cx="11128248" cy="0"/>
          </a:xfrm>
          <a:prstGeom prst="line">
            <a:avLst/>
          </a:prstGeom>
          <a:ln w="12700">
            <a:solidFill>
              <a:srgbClr val="37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6B5CA"/>
                </a:solidFill>
                <a:latin typeface="Aptos"/>
              </a:defRPr>
            </a:pPr>
            <a:r>
              <a:rPr/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337560" cy="15544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64008" cy="1554480"/>
          </a:xfrm>
          <a:prstGeom prst="rect">
            <a:avLst/>
          </a:prstGeom>
          <a:solidFill>
            <a:srgbClr val="31DCBE"/>
          </a:solidFill>
          <a:ln w="12700">
            <a:solidFill>
              <a:srgbClr val="3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29718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96312"/>
            <a:ext cx="2971800" cy="93268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Issue tracking, dashboard, REST API, PostgreSQL and migrations.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337560" cy="15544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4434840" y="1965960"/>
            <a:ext cx="64008" cy="1554480"/>
          </a:xfrm>
          <a:prstGeom prst="rect">
            <a:avLst/>
          </a:prstGeom>
          <a:solidFill>
            <a:srgbClr val="7E84FF"/>
          </a:solidFill>
          <a:ln w="12700">
            <a:solidFill>
              <a:srgbClr val="7E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636007" y="2121408"/>
            <a:ext cx="29718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Automated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496312"/>
            <a:ext cx="2971800" cy="93268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Tests, frontend build, container images, security scanning and GitOps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65960"/>
            <a:ext cx="3337560" cy="1554480"/>
          </a:xfrm>
          <a:prstGeom prst="roundRect">
            <a:avLst/>
          </a:prstGeom>
          <a:solidFill>
            <a:srgbClr val="161E30"/>
          </a:solidFill>
          <a:ln w="12700">
            <a:solidFill>
              <a:srgbClr val="37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8138160" y="1965960"/>
            <a:ext cx="64008" cy="1554480"/>
          </a:xfrm>
          <a:prstGeom prst="rect">
            <a:avLst/>
          </a:prstGeom>
          <a:solidFill>
            <a:srgbClr val="FFBE5C"/>
          </a:solidFill>
          <a:ln w="1270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11430" bIns="1143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339328" y="2121408"/>
            <a:ext cx="2971800" cy="29260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EFF4FA"/>
                </a:solidFill>
                <a:latin typeface="Aptos"/>
              </a:defRPr>
            </a:pPr>
            <a:r>
              <a:rPr/>
              <a:t>Observed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96312"/>
            <a:ext cx="2971800" cy="932688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A6B5CA"/>
                </a:solidFill>
                <a:latin typeface="Aptos"/>
              </a:defRPr>
            </a:pPr>
            <a:r>
              <a:rPr/>
              <a:t>Health probes, Prometheus metrics, Grafana dashboard and Kubernetes 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515600" cy="32004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1DCBE"/>
                </a:solidFill>
                <a:latin typeface="Aptos"/>
              </a:defRPr>
            </a:pPr>
            <a:r>
              <a:rPr/>
              <a:t>Key learnings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5486400" cy="1371600"/>
          </a:xfrm>
          <a:prstGeom prst="rect">
            <a:avLst/>
          </a:prstGeom>
          <a:noFill/>
        </p:spPr>
        <p:txBody>
          <a:bodyPr wrap="square" lIns="22860" rIns="22860" tIns="11430" bIns="11430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FF4FA"/>
                </a:solidFill>
                <a:latin typeface="Aptos"/>
              </a:defRPr>
            </a:pPr>
            <a:r>
              <a:rPr/>
              <a:t>Separate CI (verify/build) from CD (Git-driven reconciliation).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FF4FA"/>
                </a:solidFill>
                <a:latin typeface="Aptos"/>
              </a:defRPr>
            </a:pPr>
            <a:r>
              <a:rPr/>
              <a:t>Use immutable image tags to connect runtime workloads to commits.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FF4FA"/>
                </a:solidFill>
                <a:latin typeface="Aptos"/>
              </a:defRPr>
            </a:pPr>
            <a:r>
              <a:rPr/>
              <a:t>Use health signals and evidence before changing infrastructure.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332720" cy="256032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A6B5CA"/>
                </a:solidFill>
                <a:latin typeface="Aptos"/>
              </a:defRPr>
            </a:pPr>
            <a:r>
              <a:rPr/>
              <a:t>Repository: github.com/Pranav-learner/DevOps_Capstone_Project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DEVTRACK  •  DEVOPS CAPSTONE  •  15 OCT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22860" rIns="22860" tIns="11430" bIns="11430" anchor="t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A6B5CA"/>
                </a:solidFill>
                <a:latin typeface="Aptos"/>
              </a:defRPr>
            </a:pPr>
            <a:r>
              <a:rPr/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DevTrack — Final Capstone Presentation</dc:title>
  <dc:subject>Developer Project &amp; Issue Management Platform — DevOps Capstone</dc:subject>
  <dc:creator>Pranav Gupta</dc:creator>
  <cp:keywords>DevTrack, DevOps, AWS, EKS, Terraform, GitHub Actions, ArgoCD, Prometheus, Grafana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